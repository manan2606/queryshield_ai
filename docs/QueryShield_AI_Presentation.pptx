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E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955279" y="-411480"/>
            <a:ext cx="4023360" cy="402336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337560"/>
            <a:ext cx="3474720" cy="34747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5303520"/>
            <a:ext cx="2011680" cy="20116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713232"/>
            <a:ext cx="658368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316736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DBEAFE"/>
                </a:solidFill>
                <a:latin typeface="Aptos"/>
              </a:defRPr>
            </a:pPr>
            <a:r>
              <a:t>Governed Natural-Language-to-SQL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27632"/>
            <a:ext cx="5303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900" b="0">
                <a:solidFill>
                  <a:srgbClr val="DBEAFE"/>
                </a:solidFill>
                <a:latin typeface="Aptos"/>
              </a:defRPr>
            </a:pPr>
            <a:r>
              <a:t>Analytics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2029968"/>
            <a:ext cx="1417320" cy="54864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304288"/>
            <a:ext cx="50749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50" b="0">
                <a:solidFill>
                  <a:srgbClr val="E2E8F0"/>
                </a:solidFill>
                <a:latin typeface="Aptos"/>
              </a:defRPr>
            </a:pPr>
            <a:r>
              <a:t>Ask questions in plain English while enforcing SQL safety, cost control, and auditability.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971800"/>
            <a:ext cx="4709160" cy="969264"/>
          </a:xfrm>
          <a:prstGeom prst="roundRect">
            <a:avLst/>
          </a:prstGeom>
          <a:solidFill>
            <a:srgbClr val="0F2D5A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154680"/>
            <a:ext cx="42062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ptos"/>
              </a:defRPr>
            </a:pPr>
            <a:r>
              <a:t>Built for controlled AI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56432"/>
            <a:ext cx="42062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Gemini SQL generation • parser validation • BigQuery dry run • bounded execution • audit logs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690872"/>
            <a:ext cx="1005840" cy="310896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4741164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83664" y="4690872"/>
            <a:ext cx="914400" cy="310896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83664" y="474116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Next.js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62656" y="4690872"/>
            <a:ext cx="914400" cy="310896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62656" y="4741164"/>
            <a:ext cx="9144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Gemini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41648" y="4690872"/>
            <a:ext cx="1051560" cy="310896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4741164"/>
            <a:ext cx="10515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BigQuery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57800" y="4690872"/>
            <a:ext cx="1143000" cy="310896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57800" y="4741164"/>
            <a:ext cx="11430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Cloud Run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65392" y="4690872"/>
            <a:ext cx="1508760" cy="310896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65392" y="4741164"/>
            <a:ext cx="15087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73952" y="960120"/>
            <a:ext cx="4892040" cy="4992624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1261872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C1E3B"/>
                </a:solidFill>
                <a:latin typeface="Aptos"/>
              </a:defRPr>
            </a:pPr>
            <a:r>
              <a:t>MVP-1 Demo Flow</a:t>
            </a:r>
          </a:p>
        </p:txBody>
      </p:sp>
      <p:sp>
        <p:nvSpPr>
          <p:cNvPr id="27" name="Oval 26"/>
          <p:cNvSpPr/>
          <p:nvPr/>
        </p:nvSpPr>
        <p:spPr>
          <a:xfrm>
            <a:off x="6821424" y="1719072"/>
            <a:ext cx="384048" cy="38404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21424" y="1801368"/>
            <a:ext cx="3840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1700784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20" b="1">
                <a:solidFill>
                  <a:srgbClr val="0C1E3B"/>
                </a:solidFill>
                <a:latin typeface="Aptos"/>
              </a:defRPr>
            </a:pPr>
            <a:r>
              <a:t>Upload CSV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975104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0">
                <a:solidFill>
                  <a:srgbClr val="64748B"/>
                </a:solidFill>
                <a:latin typeface="Aptos"/>
              </a:defRPr>
            </a:pPr>
            <a:r>
              <a:t>Cloud Storage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013448" y="2121408"/>
            <a:ext cx="0" cy="2743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6821424" y="2468879"/>
            <a:ext cx="384048" cy="38404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21424" y="2551175"/>
            <a:ext cx="3840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60920" y="2450591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20" b="1">
                <a:solidFill>
                  <a:srgbClr val="0C1E3B"/>
                </a:solidFill>
                <a:latin typeface="Aptos"/>
              </a:defRPr>
            </a:pPr>
            <a:r>
              <a:t>Ask question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2724911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0">
                <a:solidFill>
                  <a:srgbClr val="64748B"/>
                </a:solidFill>
                <a:latin typeface="Aptos"/>
              </a:defRPr>
            </a:pPr>
            <a:r>
              <a:t>Gemini SQL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013448" y="2871215"/>
            <a:ext cx="0" cy="2743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6821424" y="3218687"/>
            <a:ext cx="384048" cy="38404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1424" y="3300983"/>
            <a:ext cx="3840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60920" y="3200399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20" b="1">
                <a:solidFill>
                  <a:srgbClr val="0C1E3B"/>
                </a:solidFill>
                <a:latin typeface="Aptos"/>
              </a:defRPr>
            </a:pPr>
            <a:r>
              <a:t>Validate &amp; dry run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474720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0">
                <a:solidFill>
                  <a:srgbClr val="64748B"/>
                </a:solidFill>
                <a:latin typeface="Aptos"/>
              </a:defRPr>
            </a:pPr>
            <a:r>
              <a:t>Safety + cost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13448" y="3621023"/>
            <a:ext cx="0" cy="274321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6821424" y="3968496"/>
            <a:ext cx="384048" cy="384048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21424" y="4050791"/>
            <a:ext cx="3840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3950208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20" b="1">
                <a:solidFill>
                  <a:srgbClr val="0C1E3B"/>
                </a:solidFill>
                <a:latin typeface="Aptos"/>
              </a:defRPr>
            </a:pPr>
            <a:r>
              <a:t>Execute safely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60920" y="4224528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0">
                <a:solidFill>
                  <a:srgbClr val="64748B"/>
                </a:solidFill>
                <a:latin typeface="Aptos"/>
              </a:defRPr>
            </a:pPr>
            <a:r>
              <a:t>BigQuery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013448" y="4370832"/>
            <a:ext cx="0" cy="27432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6821424" y="4718304"/>
            <a:ext cx="384048" cy="38404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21424" y="4800600"/>
            <a:ext cx="384048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60920" y="4700016"/>
            <a:ext cx="3474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20" b="1">
                <a:solidFill>
                  <a:srgbClr val="0C1E3B"/>
                </a:solidFill>
                <a:latin typeface="Aptos"/>
              </a:defRPr>
            </a:pPr>
            <a:r>
              <a:t>Explain result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60920" y="4974336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0">
                <a:solidFill>
                  <a:srgbClr val="64748B"/>
                </a:solidFill>
                <a:latin typeface="Aptos"/>
              </a:defRPr>
            </a:pPr>
            <a:r>
              <a:t>Summary + chart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6080760"/>
            <a:ext cx="4572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CBD5E1"/>
                </a:solidFill>
                <a:latin typeface="Aptos"/>
              </a:defRPr>
            </a:pPr>
            <a:r>
              <a:t>Portfolio project • Deployed on Google Cloud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Natural-language analytics is powerful, but unmanaged AI-generated SQL creates risks.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43000"/>
            <a:ext cx="1069848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700" b="1">
                <a:solidFill>
                  <a:srgbClr val="1E293B"/>
                </a:solidFill>
                <a:latin typeface="Aptos"/>
              </a:defRPr>
            </a:pPr>
            <a:r>
              <a:t>AI can write SQL quickly — but speed without governance can create security, cost, and trust problems.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74519"/>
            <a:ext cx="221284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08176" y="2121408"/>
            <a:ext cx="685800" cy="685800"/>
          </a:xfrm>
          <a:prstGeom prst="ellipse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08176" y="22768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EF4444"/>
                </a:solidFill>
                <a:latin typeface="Aptos"/>
              </a:defRPr>
            </a:pPr>
            <a:r>
              <a:t>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2971800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Unsafe 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355848"/>
            <a:ext cx="18105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Generated queries may include risky operations, invalid syntax, or unintended table access.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47872" y="1874519"/>
            <a:ext cx="221284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15968" y="2121408"/>
            <a:ext cx="685800" cy="685800"/>
          </a:xfrm>
          <a:prstGeom prst="ellipse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8" y="22768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F59E0B"/>
                </a:solidFill>
                <a:latin typeface="Aptos"/>
              </a:defRPr>
            </a:pPr>
            <a:r>
              <a:t>$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2971800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Cost Explosion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355848"/>
            <a:ext cx="18105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A single uncontrolled query can scan unnecessary BigQuery data and increase cost.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55664" y="1874519"/>
            <a:ext cx="221284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23759" y="2121408"/>
            <a:ext cx="685800" cy="68580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59" y="22768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7C3AED"/>
                </a:solidFill>
                <a:latin typeface="Aptos"/>
              </a:defRPr>
            </a:pPr>
            <a: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5" y="2971800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No Audit Trail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56831" y="3355848"/>
            <a:ext cx="18105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Teams need history of prompts, SQL, dry runs, executions, and result outcomes.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63456" y="1874519"/>
            <a:ext cx="2212848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131552" y="2121408"/>
            <a:ext cx="685800" cy="685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31552" y="2276856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2F6FED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28048" y="2971800"/>
            <a:ext cx="188366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Accessibility Gap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64624" y="3355848"/>
            <a:ext cx="1810512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Non-technical users need analytics access without writing or reviewing raw SQL.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0160" y="4892040"/>
            <a:ext cx="9601200" cy="7132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72768" y="5102352"/>
            <a:ext cx="9006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1">
                <a:solidFill>
                  <a:srgbClr val="0C1E3B"/>
                </a:solidFill>
                <a:latin typeface="Aptos"/>
              </a:defRPr>
            </a:pPr>
            <a:r>
              <a:t>Core challenge: make analytics simple for users while keeping SQL execution safe, cost-aware, and auditable.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QueryShield AI wraps Gemini-generated SQL inside a controlled execution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291840" cy="4526280"/>
          </a:xfrm>
          <a:prstGeom prst="roundRect">
            <a:avLst/>
          </a:prstGeom>
          <a:solidFill>
            <a:srgbClr val="0C1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463040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965960"/>
            <a:ext cx="265176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500" b="0">
                <a:solidFill>
                  <a:srgbClr val="DBEAFE"/>
                </a:solidFill>
                <a:latin typeface="Aptos"/>
              </a:defRPr>
            </a:pPr>
            <a:r>
              <a:t>Governed NL-to-SQL analytics for CSV datasets on Google Cloud.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16152" y="2834640"/>
            <a:ext cx="2103120" cy="310896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6152" y="2884932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Plain English → 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6152" y="3310128"/>
            <a:ext cx="2103120" cy="310896"/>
          </a:xfrm>
          <a:prstGeom prst="round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2" y="3360420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Dry-run cost gate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16152" y="3785615"/>
            <a:ext cx="2103120" cy="310896"/>
          </a:xfrm>
          <a:prstGeom prst="roundRect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16152" y="3835907"/>
            <a:ext cx="21031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Aptos"/>
              </a:defRPr>
            </a:pPr>
            <a:r>
              <a:t>Audit-ready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709160"/>
            <a:ext cx="2743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20" b="0">
                <a:solidFill>
                  <a:srgbClr val="CBD5E1"/>
                </a:solidFill>
                <a:latin typeface="Aptos"/>
              </a:defRPr>
            </a:pPr>
            <a:r>
              <a:t>Built to show production-style AI governance without overcomplicating MVP-1.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1325880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07992" y="1490472"/>
            <a:ext cx="347472" cy="29260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07992" y="1559052"/>
            <a:ext cx="34747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1463039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0C1E3B"/>
                </a:solidFill>
                <a:latin typeface="Aptos"/>
              </a:defRPr>
            </a:pPr>
            <a:r>
              <a:t>Upload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1463039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1E293B"/>
                </a:solidFill>
                <a:latin typeface="Aptos"/>
              </a:defRPr>
            </a:pPr>
            <a:r>
              <a:t>CSV stored and prepared for BigQuery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02952" y="1490472"/>
            <a:ext cx="960120" cy="228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02952" y="1540763"/>
            <a:ext cx="9601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30" b="1">
                <a:solidFill>
                  <a:srgbClr val="64748B"/>
                </a:solidFill>
                <a:latin typeface="Aptos"/>
              </a:defRPr>
            </a:pPr>
            <a:r>
              <a:t>Cloud Storage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81728" y="1956815"/>
            <a:ext cx="0" cy="173737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343400" y="2130552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07992" y="2295144"/>
            <a:ext cx="347472" cy="2926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07992" y="2363724"/>
            <a:ext cx="34747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10912" y="226771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0C1E3B"/>
                </a:solidFill>
                <a:latin typeface="Aptos"/>
              </a:defRPr>
            </a:pPr>
            <a:r>
              <a:t>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0" y="2267712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1E293B"/>
                </a:solidFill>
                <a:latin typeface="Aptos"/>
              </a:defRPr>
            </a:pPr>
            <a:r>
              <a:t>User submits natural-language question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2952" y="2295144"/>
            <a:ext cx="960120" cy="228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2952" y="2345436"/>
            <a:ext cx="9601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30" b="1">
                <a:solidFill>
                  <a:srgbClr val="64748B"/>
                </a:solidFill>
                <a:latin typeface="Aptos"/>
              </a:defRPr>
            </a:pPr>
            <a:r>
              <a:t>Gemini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681728" y="2761488"/>
            <a:ext cx="0" cy="173736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4343400" y="2935224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07992" y="3099816"/>
            <a:ext cx="347472" cy="292608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07992" y="3168396"/>
            <a:ext cx="34747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307238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0C1E3B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3072384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1E293B"/>
                </a:solidFill>
                <a:latin typeface="Aptos"/>
              </a:defRPr>
            </a:pPr>
            <a:r>
              <a:t>Parser checks SQL safety and table scope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902952" y="3099816"/>
            <a:ext cx="960120" cy="228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02952" y="3150108"/>
            <a:ext cx="9601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30" b="1">
                <a:solidFill>
                  <a:srgbClr val="64748B"/>
                </a:solidFill>
                <a:latin typeface="Aptos"/>
              </a:defRPr>
            </a:pPr>
            <a:r>
              <a:t>Rules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681728" y="3566160"/>
            <a:ext cx="0" cy="173736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4343400" y="3739896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07992" y="3904487"/>
            <a:ext cx="347472" cy="292608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07992" y="3973068"/>
            <a:ext cx="34747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10912" y="387705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0C1E3B"/>
                </a:solidFill>
                <a:latin typeface="Aptos"/>
              </a:defRPr>
            </a:pPr>
            <a:r>
              <a:t>Dry Run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0" y="3877056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1E293B"/>
                </a:solidFill>
                <a:latin typeface="Aptos"/>
              </a:defRPr>
            </a:pPr>
            <a:r>
              <a:t>BigQuery estimates bytes and cost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902952" y="3904487"/>
            <a:ext cx="960120" cy="228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02952" y="3954779"/>
            <a:ext cx="9601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30" b="1">
                <a:solidFill>
                  <a:srgbClr val="64748B"/>
                </a:solidFill>
                <a:latin typeface="Aptos"/>
              </a:defRPr>
            </a:pPr>
            <a:r>
              <a:t>BigQuery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681728" y="4370831"/>
            <a:ext cx="0" cy="173737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4343400" y="4544568"/>
            <a:ext cx="6949440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07992" y="4709159"/>
            <a:ext cx="347472" cy="29260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07992" y="4777740"/>
            <a:ext cx="347472" cy="73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10912" y="468172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250" b="1">
                <a:solidFill>
                  <a:srgbClr val="0C1E3B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0" y="46817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19" b="0">
                <a:solidFill>
                  <a:srgbClr val="1E293B"/>
                </a:solidFill>
                <a:latin typeface="Aptos"/>
              </a:defRPr>
            </a:pPr>
            <a:r>
              <a:t>Summary, chart, table, history and audit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902952" y="4709159"/>
            <a:ext cx="960120" cy="2286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02952" y="4759451"/>
            <a:ext cx="96012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30" b="1">
                <a:solidFill>
                  <a:srgbClr val="64748B"/>
                </a:solidFill>
                <a:latin typeface="Aptos"/>
              </a:defRPr>
            </a:pPr>
            <a:r>
              <a:t>UX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343400" y="5504688"/>
            <a:ext cx="694944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0" y="5623560"/>
            <a:ext cx="644652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65F46"/>
                </a:solidFill>
                <a:latin typeface="Aptos"/>
              </a:defRPr>
            </a:pPr>
            <a:r>
              <a:t>Result: easier analytics for users, safer execution for engineering teams.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End-to-End User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 clean path from account creation to governed, explainable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" y="1463040"/>
            <a:ext cx="365760" cy="36576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Sign up</a:t>
            </a:r>
            <a:br/>
            <a:r>
              <a:t>Login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19072" y="2121408"/>
            <a:ext cx="146304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901952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258568" y="1463040"/>
            <a:ext cx="365760" cy="36576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58568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75104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Create</a:t>
            </a:r>
            <a:br/>
            <a:r>
              <a:t>dataset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999232" y="2121408"/>
            <a:ext cx="146304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82112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538728" y="1463040"/>
            <a:ext cx="365760" cy="3657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8728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55264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Upload</a:t>
            </a:r>
            <a:br/>
            <a:r>
              <a:t>CSV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79392" y="2121408"/>
            <a:ext cx="146304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462271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18887" y="1463040"/>
            <a:ext cx="365760" cy="3657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18887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35423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Load to</a:t>
            </a:r>
            <a:br/>
            <a:r>
              <a:t>BigQuery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559551" y="2121408"/>
            <a:ext cx="146304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742431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099047" y="14630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99047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15583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Ask</a:t>
            </a:r>
            <a:br/>
            <a:r>
              <a:t>question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39711" y="2121408"/>
            <a:ext cx="146304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7022592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379208" y="1463040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79208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95744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Generate</a:t>
            </a:r>
            <a:br/>
            <a:r>
              <a:t>SQL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19871" y="2121408"/>
            <a:ext cx="146305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8302751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659367" y="1463040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59367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3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Validate +</a:t>
            </a:r>
            <a:br/>
            <a:r>
              <a:t>dry run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400031" y="2121408"/>
            <a:ext cx="146305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582911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939528" y="14630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939528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56063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Execute</a:t>
            </a:r>
            <a:br/>
            <a:r>
              <a:t>safely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0680191" y="2121408"/>
            <a:ext cx="146305" cy="0"/>
          </a:xfrm>
          <a:prstGeom prst="line">
            <a:avLst/>
          </a:prstGeom>
          <a:ln w="1778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0863072" y="1627632"/>
            <a:ext cx="1078992" cy="987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1219688" y="1463040"/>
            <a:ext cx="365760" cy="3657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19688" y="1545336"/>
            <a:ext cx="3657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36224" y="1920240"/>
            <a:ext cx="932688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50" b="1">
                <a:solidFill>
                  <a:srgbClr val="0C1E3B"/>
                </a:solidFill>
                <a:latin typeface="Aptos"/>
              </a:defRPr>
            </a:pPr>
            <a:r>
              <a:t>Summary +</a:t>
            </a:r>
            <a:br/>
            <a:r>
              <a:t>chart + table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4672" y="345643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51560" y="3675887"/>
            <a:ext cx="1417320" cy="25603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61288" y="3726179"/>
            <a:ext cx="119786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7C3AED"/>
                </a:solidFill>
                <a:latin typeface="Aptos"/>
              </a:defRPr>
            </a:pPr>
            <a:r>
              <a:t>EXAMPLE QUESTION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1560" y="4096512"/>
            <a:ext cx="448056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100" b="1">
                <a:solidFill>
                  <a:srgbClr val="0C1E3B"/>
                </a:solidFill>
                <a:latin typeface="Aptos"/>
              </a:defRPr>
            </a:pPr>
            <a:r>
              <a:t>“Show total cost by service”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" y="4526280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Used with cloud_costs_demo.csv to show BigQuery, Cloud Run, and Cloud Storage cost distribution.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09360" y="3456432"/>
            <a:ext cx="507492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56248" y="3675887"/>
            <a:ext cx="1417320" cy="25603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65976" y="3726179"/>
            <a:ext cx="1197864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10B981"/>
                </a:solidFill>
                <a:latin typeface="Aptos"/>
              </a:defRPr>
            </a:pPr>
            <a:r>
              <a:t>EXPECTED OUTPUT</a:t>
            </a:r>
          </a:p>
        </p:txBody>
      </p:sp>
      <p:sp>
        <p:nvSpPr>
          <p:cNvPr id="59" name="Oval 58"/>
          <p:cNvSpPr/>
          <p:nvPr/>
        </p:nvSpPr>
        <p:spPr>
          <a:xfrm>
            <a:off x="6620256" y="4078224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12280" y="4005072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60" b="0">
                <a:solidFill>
                  <a:srgbClr val="1E293B"/>
                </a:solidFill>
                <a:latin typeface="Aptos"/>
              </a:defRPr>
            </a:pPr>
            <a:r>
              <a:t>Generated SQL + validation passed</a:t>
            </a:r>
          </a:p>
        </p:txBody>
      </p:sp>
      <p:sp>
        <p:nvSpPr>
          <p:cNvPr id="61" name="Oval 60"/>
          <p:cNvSpPr/>
          <p:nvPr/>
        </p:nvSpPr>
        <p:spPr>
          <a:xfrm>
            <a:off x="6620256" y="4370832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12280" y="4297680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60" b="0">
                <a:solidFill>
                  <a:srgbClr val="1E293B"/>
                </a:solidFill>
                <a:latin typeface="Aptos"/>
              </a:defRPr>
            </a:pPr>
            <a:r>
              <a:t>Dry-run bytes/cost estimate</a:t>
            </a:r>
          </a:p>
        </p:txBody>
      </p:sp>
      <p:sp>
        <p:nvSpPr>
          <p:cNvPr id="63" name="Oval 62"/>
          <p:cNvSpPr/>
          <p:nvPr/>
        </p:nvSpPr>
        <p:spPr>
          <a:xfrm>
            <a:off x="6620256" y="4663440"/>
            <a:ext cx="82296" cy="8229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12280" y="4590288"/>
            <a:ext cx="41605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160" b="0">
                <a:solidFill>
                  <a:srgbClr val="1E293B"/>
                </a:solidFill>
                <a:latin typeface="Aptos"/>
              </a:defRPr>
            </a:pPr>
            <a:r>
              <a:t>AI summary + bar chart + result 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Frontend, backend, AI, data, and deployment layers working together on GCP.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325880"/>
            <a:ext cx="1965960" cy="109728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581912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User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1929384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Next.js frontend</a:t>
            </a:r>
            <a:br/>
            <a:r>
              <a:t>Dataset upload • analysis page • result visualizations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27248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27248" y="1325880"/>
            <a:ext cx="1965960" cy="109728"/>
          </a:xfrm>
          <a:prstGeom prst="rect">
            <a:avLst/>
          </a:prstGeom>
          <a:solidFill>
            <a:srgbClr val="0C1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581912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API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73552" y="1929384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FastAPI REST APIs</a:t>
            </a:r>
            <a:br/>
            <a:r>
              <a:t>Auth • datasets • validation • execution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96128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596128" y="1325880"/>
            <a:ext cx="196596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0" y="1581912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AI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42432" y="1929384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Gemini</a:t>
            </a:r>
            <a:br/>
            <a:r>
              <a:t>SQL generation • result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65008" y="1325880"/>
            <a:ext cx="19659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65008" y="1325880"/>
            <a:ext cx="1965960" cy="109728"/>
          </a:xfrm>
          <a:prstGeom prst="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81912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11312" y="1929384"/>
            <a:ext cx="1673351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BigQuery</a:t>
            </a:r>
            <a:br/>
            <a:r>
              <a:t>Tables • dry run • governed 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24328" y="1938528"/>
            <a:ext cx="457200" cy="0"/>
          </a:xfrm>
          <a:prstGeom prst="line">
            <a:avLst/>
          </a:prstGeom>
          <a:ln w="190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93208" y="1938528"/>
            <a:ext cx="457200" cy="0"/>
          </a:xfrm>
          <a:prstGeom prst="line">
            <a:avLst/>
          </a:prstGeom>
          <a:ln w="190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62088" y="1938528"/>
            <a:ext cx="457200" cy="0"/>
          </a:xfrm>
          <a:prstGeom prst="line">
            <a:avLst/>
          </a:prstGeom>
          <a:ln w="1905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658368" y="3703320"/>
            <a:ext cx="8183879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3913632"/>
            <a:ext cx="7635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Deployment &amp; Security Foundation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334256"/>
            <a:ext cx="96012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3845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10" b="1">
                <a:solidFill>
                  <a:srgbClr val="0C1E3B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26864"/>
            <a:ext cx="96012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10" b="0">
                <a:solidFill>
                  <a:srgbClr val="64748B"/>
                </a:solidFill>
                <a:latin typeface="Aptos"/>
              </a:defRPr>
            </a:pPr>
            <a:r>
              <a:t>containers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57400" y="4334256"/>
            <a:ext cx="1353312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057400" y="43845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10" b="1">
                <a:solidFill>
                  <a:srgbClr val="0C1E3B"/>
                </a:solidFill>
                <a:latin typeface="Aptos"/>
              </a:defRPr>
            </a:pPr>
            <a:r>
              <a:t>Artifact Registry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626864"/>
            <a:ext cx="1353312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10" b="0">
                <a:solidFill>
                  <a:srgbClr val="64748B"/>
                </a:solidFill>
                <a:latin typeface="Aptos"/>
              </a:defRPr>
            </a:pPr>
            <a:r>
              <a:t>images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593592" y="4334256"/>
            <a:ext cx="105156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93592" y="438454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10" b="1">
                <a:solidFill>
                  <a:srgbClr val="0C1E3B"/>
                </a:solidFill>
                <a:latin typeface="Aptos"/>
              </a:defRPr>
            </a:pPr>
            <a:r>
              <a:t>Cloud Run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93592" y="4626864"/>
            <a:ext cx="105156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10" b="0">
                <a:solidFill>
                  <a:srgbClr val="64748B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828032" y="4334256"/>
            <a:ext cx="1353312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28032" y="4384548"/>
            <a:ext cx="135331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10" b="1">
                <a:solidFill>
                  <a:srgbClr val="0C1E3B"/>
                </a:solidFill>
                <a:latin typeface="Aptos"/>
              </a:defRPr>
            </a:pPr>
            <a:r>
              <a:t>Secret Manager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28032" y="4626864"/>
            <a:ext cx="1353312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10" b="0">
                <a:solidFill>
                  <a:srgbClr val="64748B"/>
                </a:solidFill>
                <a:latin typeface="Aptos"/>
              </a:defRPr>
            </a:pPr>
            <a:r>
              <a:t>secrets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64224" y="4334256"/>
            <a:ext cx="77724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64224" y="438454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10" b="1">
                <a:solidFill>
                  <a:srgbClr val="0C1E3B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64224" y="4626864"/>
            <a:ext cx="7772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10" b="0">
                <a:solidFill>
                  <a:srgbClr val="64748B"/>
                </a:solidFill>
                <a:latin typeface="Aptos"/>
              </a:defRPr>
            </a:pPr>
            <a:r>
              <a:t>least privilege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96912" y="4334256"/>
            <a:ext cx="132588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6912" y="438454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10" b="1">
                <a:solidFill>
                  <a:srgbClr val="0C1E3B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96912" y="4626864"/>
            <a:ext cx="132588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10" b="0">
                <a:solidFill>
                  <a:srgbClr val="64748B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4791456"/>
            <a:ext cx="1234440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0" y="4841748"/>
            <a:ext cx="12344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10" b="1">
                <a:solidFill>
                  <a:srgbClr val="0C1E3B"/>
                </a:solidFill>
                <a:latin typeface="Aptos"/>
              </a:defRPr>
            </a:pPr>
            <a:r>
              <a:t>Cloud Logging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5084064"/>
            <a:ext cx="123444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10" b="0">
                <a:solidFill>
                  <a:srgbClr val="64748B"/>
                </a:solidFill>
                <a:latin typeface="Aptos"/>
              </a:defRPr>
            </a:pPr>
            <a:r>
              <a:t>runtime logs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189720" y="3703320"/>
            <a:ext cx="2057400" cy="1572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89720" y="3703320"/>
            <a:ext cx="2057400" cy="10972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99448" y="3959352"/>
            <a:ext cx="1837943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50" b="1">
                <a:solidFill>
                  <a:srgbClr val="0C1E3B"/>
                </a:solidFill>
                <a:latin typeface="Aptos"/>
              </a:defRPr>
            </a:pPr>
            <a:r>
              <a:t>Storage + Metadata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99448" y="4398264"/>
            <a:ext cx="183794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90" b="0">
                <a:solidFill>
                  <a:srgbClr val="64748B"/>
                </a:solidFill>
                <a:latin typeface="Aptos"/>
              </a:defRPr>
            </a:pPr>
            <a:r>
              <a:t>Cloud Storage for CSVs</a:t>
            </a:r>
            <a:br/>
            <a:r>
              <a:t>SQLite for MVP metadata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9144000" y="2606040"/>
            <a:ext cx="914400" cy="1097280"/>
          </a:xfrm>
          <a:prstGeom prst="line">
            <a:avLst/>
          </a:prstGeom>
          <a:ln w="1651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114800" y="2606040"/>
            <a:ext cx="5577840" cy="1097280"/>
          </a:xfrm>
          <a:prstGeom prst="line">
            <a:avLst/>
          </a:prstGeom>
          <a:ln w="127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14400" y="5596128"/>
            <a:ext cx="10378440" cy="41148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43000" y="5715000"/>
            <a:ext cx="98755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0C1E3B"/>
                </a:solidFill>
                <a:latin typeface="Aptos"/>
              </a:defRPr>
            </a:pPr>
            <a:r>
              <a:t>Design choice: SQLite keeps MVP-1 cost-controlled; BigQuery handles the real analytical workload.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Governed Query Execution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Every AI-generated query passes safety and cost gates before execution.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325880"/>
            <a:ext cx="2103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36192" y="1554480"/>
            <a:ext cx="594360" cy="5943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169164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1343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Generate SQL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51760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Gemini converts the user question into SQL.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907791" y="2286000"/>
            <a:ext cx="109729" cy="0"/>
          </a:xfrm>
          <a:prstGeom prst="line">
            <a:avLst/>
          </a:prstGeom>
          <a:ln w="1651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035808" y="1325880"/>
            <a:ext cx="2103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85615" y="1554480"/>
            <a:ext cx="594360" cy="59436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5615" y="169164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82112" y="231343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Validate 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51760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Parser enforces read-only SQL and table scope.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57215" y="2286000"/>
            <a:ext cx="109728" cy="0"/>
          </a:xfrm>
          <a:prstGeom prst="line">
            <a:avLst/>
          </a:prstGeom>
          <a:ln w="1651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285232" y="1325880"/>
            <a:ext cx="2103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035040" y="1554480"/>
            <a:ext cx="594360" cy="594360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0" y="169164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1536" y="231343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Dry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9824" y="2651760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BigQuery estimates bytes processed before execution.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406640" y="2286000"/>
            <a:ext cx="109728" cy="0"/>
          </a:xfrm>
          <a:prstGeom prst="line">
            <a:avLst/>
          </a:prstGeom>
          <a:ln w="1651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534656" y="1325880"/>
            <a:ext cx="2103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284464" y="1554480"/>
            <a:ext cx="594360" cy="594360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169164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0" y="231343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Cost 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2651760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Query must stay within configured scan limit.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656063" y="2286000"/>
            <a:ext cx="109729" cy="0"/>
          </a:xfrm>
          <a:prstGeom prst="line">
            <a:avLst/>
          </a:prstGeom>
          <a:ln w="16510">
            <a:solidFill>
              <a:srgbClr val="2F6F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784080" y="1325880"/>
            <a:ext cx="2103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533888" y="1554480"/>
            <a:ext cx="594360" cy="59436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33888" y="1691640"/>
            <a:ext cx="59436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0384" y="2313432"/>
            <a:ext cx="1810511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20" b="1">
                <a:solidFill>
                  <a:srgbClr val="0C1E3B"/>
                </a:solidFill>
                <a:latin typeface="Aptos"/>
              </a:defRPr>
            </a:pPr>
            <a:r>
              <a:t>Execute +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48672" y="2651760"/>
            <a:ext cx="1773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19" b="0">
                <a:solidFill>
                  <a:srgbClr val="64748B"/>
                </a:solidFill>
                <a:latin typeface="Aptos"/>
              </a:defRPr>
            </a:pPr>
            <a:r>
              <a:t>Approved query runs; history and audit logs are stored.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822191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600" b="1">
                <a:solidFill>
                  <a:srgbClr val="0C1E3B"/>
                </a:solidFill>
                <a:latin typeface="Aptos"/>
              </a:defRPr>
            </a:pPr>
            <a:r>
              <a:t>Safety controls implemented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224528"/>
            <a:ext cx="33375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3544" y="44531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4712" y="4334256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1">
                <a:solidFill>
                  <a:srgbClr val="0C1E3B"/>
                </a:solidFill>
                <a:latin typeface="Aptos"/>
              </a:defRPr>
            </a:pPr>
            <a:r>
              <a:t>Read-only SQL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" y="4553712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0" b="0">
                <a:solidFill>
                  <a:srgbClr val="64748B"/>
                </a:solidFill>
                <a:latin typeface="Aptos"/>
              </a:defRPr>
            </a:pPr>
            <a:r>
              <a:t>Prevents destructive operations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480559" y="4224528"/>
            <a:ext cx="33375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26864" y="44531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28031" y="4334256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1">
                <a:solidFill>
                  <a:srgbClr val="0C1E3B"/>
                </a:solidFill>
                <a:latin typeface="Aptos"/>
              </a:defRPr>
            </a:pPr>
            <a:r>
              <a:t>Restricted table access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8031" y="4553712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0" b="0">
                <a:solidFill>
                  <a:srgbClr val="64748B"/>
                </a:solidFill>
                <a:latin typeface="Aptos"/>
              </a:defRPr>
            </a:pPr>
            <a:r>
              <a:t>Limits scope to selected dataset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183879" y="4224528"/>
            <a:ext cx="33375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30183" y="445312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1352" y="4334256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1">
                <a:solidFill>
                  <a:srgbClr val="0C1E3B"/>
                </a:solidFill>
                <a:latin typeface="Aptos"/>
              </a:defRPr>
            </a:pPr>
            <a:r>
              <a:t>100 MB scan limit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31352" y="4553712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0" b="0">
                <a:solidFill>
                  <a:srgbClr val="64748B"/>
                </a:solidFill>
                <a:latin typeface="Aptos"/>
              </a:defRPr>
            </a:pPr>
            <a:r>
              <a:t>Controls BigQuery cost exposure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" y="5010912"/>
            <a:ext cx="33375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23544" y="523951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24712" y="5120640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1">
                <a:solidFill>
                  <a:srgbClr val="0C1E3B"/>
                </a:solidFill>
                <a:latin typeface="Aptos"/>
              </a:defRPr>
            </a:pPr>
            <a:r>
              <a:t>100-row bound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24712" y="5340096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0" b="0">
                <a:solidFill>
                  <a:srgbClr val="64748B"/>
                </a:solidFill>
                <a:latin typeface="Aptos"/>
              </a:defRPr>
            </a:pPr>
            <a:r>
              <a:t>Keeps result payload manageable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480559" y="5010912"/>
            <a:ext cx="33375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4626864" y="523951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828031" y="5120640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1">
                <a:solidFill>
                  <a:srgbClr val="0C1E3B"/>
                </a:solidFill>
                <a:latin typeface="Aptos"/>
              </a:defRPr>
            </a:pPr>
            <a:r>
              <a:t>Full audit trail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828031" y="5340096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0" b="0">
                <a:solidFill>
                  <a:srgbClr val="64748B"/>
                </a:solidFill>
                <a:latin typeface="Aptos"/>
              </a:defRPr>
            </a:pPr>
            <a:r>
              <a:t>Captures dry run, execute, and summary events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83879" y="5010912"/>
            <a:ext cx="3337560" cy="58521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8330183" y="523951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531352" y="5120640"/>
            <a:ext cx="2743200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60" b="1">
                <a:solidFill>
                  <a:srgbClr val="0C1E3B"/>
                </a:solidFill>
                <a:latin typeface="Aptos"/>
              </a:defRPr>
            </a:pPr>
            <a:r>
              <a:t>Non-blocking AI summary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31352" y="5340096"/>
            <a:ext cx="274320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10" b="0">
                <a:solidFill>
                  <a:srgbClr val="64748B"/>
                </a:solidFill>
                <a:latin typeface="Aptos"/>
              </a:defRPr>
            </a:pPr>
            <a:r>
              <a:t>Results remain visible if summary fails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Google Cloud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GCP services are used for deployment, storage, analytics, secrets, and observability.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417320"/>
            <a:ext cx="512064" cy="512064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1790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40817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Cloud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69164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Containerized FastAPI backend and Next.js frontend services.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23444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39312" y="1417320"/>
            <a:ext cx="512064" cy="5120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39312" y="151790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61104" y="140817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Artifact Registry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61104" y="169164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Stores versioned Docker images built by GitHub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123444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92240" y="1417320"/>
            <a:ext cx="512064" cy="5120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51790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140817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Cloud Storage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4032" y="169164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Persists uploaded CSV files before BigQuery loading.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80576" y="123444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345167" y="1417320"/>
            <a:ext cx="512064" cy="512064"/>
          </a:xfrm>
          <a:prstGeom prst="roundRect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7" y="151790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66959" y="140817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BigQuery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59" y="169164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Stores analytical tables, runs SQL, and provides dry-run estimates.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" y="315468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6384" y="3337560"/>
            <a:ext cx="512064" cy="5120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343814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08176" y="332841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Secret 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08176" y="361188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Protects JWT secret and Gemini API key in deployment.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15468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39312" y="3337560"/>
            <a:ext cx="512064" cy="512064"/>
          </a:xfrm>
          <a:prstGeom prst="roundRect">
            <a:avLst/>
          </a:prstGeom>
          <a:solidFill>
            <a:srgbClr val="0C1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39312" y="343814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IAM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61104" y="332841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IAM + WIF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61104" y="361188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Least-privilege service accounts and keyless GitHub deployment.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315468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92240" y="3337560"/>
            <a:ext cx="512064" cy="512064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343814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14032" y="332841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Cloud Logging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14032" y="361188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Captures runtime logs for backend and frontend services.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80576" y="3154680"/>
            <a:ext cx="2487168" cy="1444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345167" y="3337560"/>
            <a:ext cx="512064" cy="512064"/>
          </a:xfrm>
          <a:prstGeom prst="round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45167" y="3438144"/>
            <a:ext cx="51206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CI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59" y="3328416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350" b="1">
                <a:solidFill>
                  <a:srgbClr val="0C1E3B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66959" y="3611880"/>
            <a:ext cx="1554480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Aptos"/>
              </a:defRPr>
            </a:pPr>
            <a:r>
              <a:t>Automates CI, Docker build, push, and Cloud Run deployment.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234440" y="5422392"/>
            <a:ext cx="9738360" cy="43891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8760" y="5559552"/>
            <a:ext cx="918972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0C1E3B"/>
                </a:solidFill>
                <a:latin typeface="Aptos"/>
              </a:defRPr>
            </a:pPr>
            <a:r>
              <a:t>Deployment pattern: GitHub push → CI/CD → Artifact Registry → Cloud Run → BigQuery/Storage/Secrets.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Product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End-to-end governed analytics workflow from dataset onboarding to AI-assisted results.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07008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810" y="1261872"/>
            <a:ext cx="3338043" cy="1581912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21792" y="2999232"/>
            <a:ext cx="5212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C1E3B"/>
                </a:solidFill>
                <a:latin typeface="Aptos"/>
              </a:defRPr>
            </a:pPr>
            <a:r>
              <a:t>1. Dashboard control plane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200400"/>
            <a:ext cx="52120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90" b="0">
                <a:solidFill>
                  <a:srgbClr val="64748B"/>
                </a:solidFill>
                <a:latin typeface="Aptos"/>
              </a:defRPr>
            </a:pPr>
            <a:r>
              <a:t>Manage datasets, query activity, and demo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207008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3_csv_up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944" y="1306273"/>
            <a:ext cx="5102352" cy="1493109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355080" y="2999232"/>
            <a:ext cx="5212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C1E3B"/>
                </a:solidFill>
                <a:latin typeface="Aptos"/>
              </a:defRPr>
            </a:pPr>
            <a:r>
              <a:t>2. Dataset upload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52120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90" b="0">
                <a:solidFill>
                  <a:srgbClr val="64748B"/>
                </a:solidFill>
                <a:latin typeface="Aptos"/>
              </a:defRPr>
            </a:pPr>
            <a:r>
              <a:t>Upload cloud_costs_demo.csv and prepare it for BigQuery.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3675887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4_query_inp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3730752"/>
            <a:ext cx="4745736" cy="1581912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621792" y="5468112"/>
            <a:ext cx="5212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C1E3B"/>
                </a:solidFill>
                <a:latin typeface="Aptos"/>
              </a:defRPr>
            </a:pPr>
            <a:r>
              <a:t>3. Natural-language query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5669279"/>
            <a:ext cx="52120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90" b="0">
                <a:solidFill>
                  <a:srgbClr val="64748B"/>
                </a:solidFill>
                <a:latin typeface="Aptos"/>
              </a:defRPr>
            </a:pPr>
            <a:r>
              <a:t>Ask: “Show total cost by service”.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3675887"/>
            <a:ext cx="52120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06_ai_summary_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2176" y="3730752"/>
            <a:ext cx="2397886" cy="1581912"/>
          </a:xfrm>
          <a:prstGeom prst="rect">
            <a:avLst/>
          </a:prstGeom>
          <a:ln w="6350">
            <a:solidFill>
              <a:srgbClr val="E2E8F0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6355080" y="5468112"/>
            <a:ext cx="5212080" cy="146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1">
                <a:solidFill>
                  <a:srgbClr val="0C1E3B"/>
                </a:solidFill>
                <a:latin typeface="Aptos"/>
              </a:defRPr>
            </a:pPr>
            <a:r>
              <a:t>4. AI summary + chart + table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5669279"/>
            <a:ext cx="521208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90" b="0">
                <a:solidFill>
                  <a:srgbClr val="64748B"/>
                </a:solidFill>
                <a:latin typeface="Aptos"/>
              </a:defRPr>
            </a:pPr>
            <a:r>
              <a:t>Explain, visualize, and verify bounded results.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Traceability &amp;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History and audit views make AI-assisted analytics reviewable.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" y="1234440"/>
            <a:ext cx="3401568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86384" y="1508760"/>
            <a:ext cx="30723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schema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955663"/>
            <a:ext cx="2962656" cy="889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9536" y="358444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Schema review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950208"/>
            <a:ext cx="2779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30" b="0">
                <a:solidFill>
                  <a:srgbClr val="64748B"/>
                </a:solidFill>
                <a:latin typeface="Aptos"/>
              </a:defRPr>
            </a:pPr>
            <a:r>
              <a:t>Detected columns, types, nullability, and sample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5648" y="4681728"/>
            <a:ext cx="1078992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55648" y="473202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0C1E3B"/>
                </a:solidFill>
                <a:latin typeface="Aptos"/>
              </a:defRPr>
            </a:pPr>
            <a:r>
              <a:t>Schema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43983" y="1234440"/>
            <a:ext cx="3401568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08575" y="1508760"/>
            <a:ext cx="30723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7_query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766111"/>
            <a:ext cx="2962656" cy="1268377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681727" y="358444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Query history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79" y="3950208"/>
            <a:ext cx="2779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30" b="0">
                <a:solidFill>
                  <a:srgbClr val="64748B"/>
                </a:solidFill>
                <a:latin typeface="Aptos"/>
              </a:defRPr>
            </a:pPr>
            <a:r>
              <a:t>Question, generated SQL, validation, dry run, execution status, and rows.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77840" y="4681728"/>
            <a:ext cx="1078992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77840" y="473202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0C1E3B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6175" y="1234440"/>
            <a:ext cx="3401568" cy="40416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7" y="1508760"/>
            <a:ext cx="3072384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08_audit_l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1690203"/>
            <a:ext cx="2962656" cy="142019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503919" y="358444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Audit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3950208"/>
            <a:ext cx="2779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30" b="0">
                <a:solidFill>
                  <a:srgbClr val="64748B"/>
                </a:solidFill>
                <a:latin typeface="Aptos"/>
              </a:defRPr>
            </a:pPr>
            <a:r>
              <a:t>System events for validation, dry run, execution, and AI summary.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00032" y="4681728"/>
            <a:ext cx="1078992" cy="256032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00032" y="4732020"/>
            <a:ext cx="10789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850" b="1">
                <a:solidFill>
                  <a:srgbClr val="0C1E3B"/>
                </a:solidFill>
                <a:latin typeface="Aptos"/>
              </a:defRPr>
            </a:pPr>
            <a:r>
              <a:t>Audit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15568" y="5577840"/>
            <a:ext cx="9966960" cy="43891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5715000"/>
            <a:ext cx="946404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30" b="1">
                <a:solidFill>
                  <a:srgbClr val="065F46"/>
                </a:solidFill>
                <a:latin typeface="Aptos"/>
              </a:defRPr>
            </a:pPr>
            <a:r>
              <a:t>Governance evidence: each query can be reviewed from schema context through execution and AI summary events.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Project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A deployed AI analytics product with visible governance, cloud deployment, and business value.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" y="1170432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1335024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2F6FED"/>
                </a:solidFill>
                <a:latin typeface="Aptos"/>
              </a:defRPr>
            </a:pPr>
            <a:r>
              <a:t>4-stage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792224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query governance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99232" y="1170432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63824" y="1335024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7C3AED"/>
                </a:solidFill>
                <a:latin typeface="Aptos"/>
              </a:defRPr>
            </a:pPr>
            <a:r>
              <a:t>10+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82112" y="1792224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SQL safety checks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1170432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76672" y="1335024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F59E0B"/>
                </a:solidFill>
                <a:latin typeface="Aptos"/>
              </a:defRPr>
            </a:pPr>
            <a:r>
              <a:t>100 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0" y="1792224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BigQuery scan limit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24927" y="1170432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19" y="1335024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10B981"/>
                </a:solidFill>
                <a:latin typeface="Aptos"/>
              </a:defRPr>
            </a:pPr>
            <a:r>
              <a:t>100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1792224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bounded result output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37776" y="1170432"/>
            <a:ext cx="196596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02367" y="1335024"/>
            <a:ext cx="16367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500" b="1">
                <a:solidFill>
                  <a:srgbClr val="26C6DA"/>
                </a:solidFill>
                <a:latin typeface="Aptos"/>
              </a:defRPr>
            </a:pPr>
            <a:r>
              <a:t>CI/CD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0655" y="1792224"/>
            <a:ext cx="16002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980" b="0">
                <a:solidFill>
                  <a:srgbClr val="64748B"/>
                </a:solidFill>
                <a:latin typeface="Aptos"/>
              </a:defRPr>
            </a:pPr>
            <a:r>
              <a:t>keyless Cloud Run deploy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278892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2788920"/>
            <a:ext cx="73152" cy="2423160"/>
          </a:xfrm>
          <a:prstGeom prst="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8408" y="295351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0C1E3B"/>
                </a:solidFill>
                <a:latin typeface="Aptos"/>
              </a:defRPr>
            </a:pPr>
            <a:r>
              <a:t>What was built</a:t>
            </a:r>
          </a:p>
        </p:txBody>
      </p:sp>
      <p:sp>
        <p:nvSpPr>
          <p:cNvPr id="25" name="Oval 24"/>
          <p:cNvSpPr/>
          <p:nvPr/>
        </p:nvSpPr>
        <p:spPr>
          <a:xfrm>
            <a:off x="996695" y="3392424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61288" y="331927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Full-stack NL-to-SQL analytics platform</a:t>
            </a:r>
          </a:p>
        </p:txBody>
      </p:sp>
      <p:sp>
        <p:nvSpPr>
          <p:cNvPr id="27" name="Oval 26"/>
          <p:cNvSpPr/>
          <p:nvPr/>
        </p:nvSpPr>
        <p:spPr>
          <a:xfrm>
            <a:off x="996695" y="3776472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370332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Gemini SQL generation and AI result summary</a:t>
            </a:r>
          </a:p>
        </p:txBody>
      </p:sp>
      <p:sp>
        <p:nvSpPr>
          <p:cNvPr id="29" name="Oval 28"/>
          <p:cNvSpPr/>
          <p:nvPr/>
        </p:nvSpPr>
        <p:spPr>
          <a:xfrm>
            <a:off x="996695" y="4160520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1288" y="4087368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BigQuery-backed analytical execution</a:t>
            </a:r>
          </a:p>
        </p:txBody>
      </p:sp>
      <p:sp>
        <p:nvSpPr>
          <p:cNvPr id="31" name="Oval 30"/>
          <p:cNvSpPr/>
          <p:nvPr/>
        </p:nvSpPr>
        <p:spPr>
          <a:xfrm>
            <a:off x="996695" y="4544568"/>
            <a:ext cx="73152" cy="7315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1288" y="4471416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Cloud Run deployed frontend and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89120" y="278892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89120" y="2788920"/>
            <a:ext cx="73152" cy="2423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0288" y="295351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0C1E3B"/>
                </a:solidFill>
                <a:latin typeface="Aptos"/>
              </a:defRPr>
            </a:pPr>
            <a:r>
              <a:t>Governance achieved</a:t>
            </a:r>
          </a:p>
        </p:txBody>
      </p:sp>
      <p:sp>
        <p:nvSpPr>
          <p:cNvPr id="36" name="Oval 35"/>
          <p:cNvSpPr/>
          <p:nvPr/>
        </p:nvSpPr>
        <p:spPr>
          <a:xfrm>
            <a:off x="4608576" y="3392424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73168" y="331927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Validation before execution</a:t>
            </a:r>
          </a:p>
        </p:txBody>
      </p:sp>
      <p:sp>
        <p:nvSpPr>
          <p:cNvPr id="38" name="Oval 37"/>
          <p:cNvSpPr/>
          <p:nvPr/>
        </p:nvSpPr>
        <p:spPr>
          <a:xfrm>
            <a:off x="4608576" y="37764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73168" y="370332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Dry-run bytes and cost estimation</a:t>
            </a:r>
          </a:p>
        </p:txBody>
      </p:sp>
      <p:sp>
        <p:nvSpPr>
          <p:cNvPr id="40" name="Oval 39"/>
          <p:cNvSpPr/>
          <p:nvPr/>
        </p:nvSpPr>
        <p:spPr>
          <a:xfrm>
            <a:off x="4608576" y="4160520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4087368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Audit logs and query history</a:t>
            </a:r>
          </a:p>
        </p:txBody>
      </p:sp>
      <p:sp>
        <p:nvSpPr>
          <p:cNvPr id="42" name="Oval 41"/>
          <p:cNvSpPr/>
          <p:nvPr/>
        </p:nvSpPr>
        <p:spPr>
          <a:xfrm>
            <a:off x="4608576" y="4544568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73168" y="4471416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Result table remains source of truth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2788920"/>
            <a:ext cx="342900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01000" y="2788920"/>
            <a:ext cx="73152" cy="2423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2168" y="2953512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450" b="1">
                <a:solidFill>
                  <a:srgbClr val="0C1E3B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47" name="Oval 46"/>
          <p:cNvSpPr/>
          <p:nvPr/>
        </p:nvSpPr>
        <p:spPr>
          <a:xfrm>
            <a:off x="8220456" y="3392424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85048" y="3319272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Natural language access to analytics</a:t>
            </a:r>
          </a:p>
        </p:txBody>
      </p:sp>
      <p:sp>
        <p:nvSpPr>
          <p:cNvPr id="49" name="Oval 48"/>
          <p:cNvSpPr/>
          <p:nvPr/>
        </p:nvSpPr>
        <p:spPr>
          <a:xfrm>
            <a:off x="8220456" y="3776472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85048" y="3703320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Reduced risk from blind AI SQL execution</a:t>
            </a:r>
          </a:p>
        </p:txBody>
      </p:sp>
      <p:sp>
        <p:nvSpPr>
          <p:cNvPr id="51" name="Oval 50"/>
          <p:cNvSpPr/>
          <p:nvPr/>
        </p:nvSpPr>
        <p:spPr>
          <a:xfrm>
            <a:off x="8220456" y="4160520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5048" y="4087368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Cost-aware BigQuery query control</a:t>
            </a:r>
          </a:p>
        </p:txBody>
      </p:sp>
      <p:sp>
        <p:nvSpPr>
          <p:cNvPr id="53" name="Oval 52"/>
          <p:cNvSpPr/>
          <p:nvPr/>
        </p:nvSpPr>
        <p:spPr>
          <a:xfrm>
            <a:off x="8220456" y="4544568"/>
            <a:ext cx="73152" cy="7315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85048" y="4471416"/>
            <a:ext cx="2880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80" b="0">
                <a:solidFill>
                  <a:srgbClr val="1E293B"/>
                </a:solidFill>
                <a:latin typeface="Aptos"/>
              </a:defRPr>
            </a:pPr>
            <a:r>
              <a:t>Explainable results with charts and summaries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188720" y="5623560"/>
            <a:ext cx="9829800" cy="402336"/>
          </a:xfrm>
          <a:prstGeom prst="roundRect">
            <a:avLst/>
          </a:prstGeom>
          <a:solidFill>
            <a:srgbClr val="0C1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17320" y="5751576"/>
            <a:ext cx="9372600" cy="91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Aptos"/>
              </a:defRPr>
            </a:pPr>
            <a:r>
              <a:t>Result: QueryShield AI makes analytics easier while keeping SQL execution controlled, explainable, and auditable.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0467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2400" b="1">
                <a:solidFill>
                  <a:srgbClr val="0C1E3B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Aptos"/>
              </a:defRPr>
            </a:pPr>
            <a:r>
              <a:t>MVP-1 proves the workflow; future versions harden it for production teams.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201400" y="320040"/>
            <a:ext cx="502920" cy="109728"/>
          </a:xfrm>
          <a:prstGeom prst="roundRect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Aptos"/>
              </a:defRPr>
            </a:pPr>
            <a:r>
              <a:t>QueryShield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84280" y="6510528"/>
            <a:ext cx="365760" cy="137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850" b="0">
                <a:solidFill>
                  <a:srgbClr val="64748B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600200"/>
            <a:ext cx="1874519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90472" y="1307592"/>
            <a:ext cx="621792" cy="621792"/>
          </a:xfrm>
          <a:prstGeom prst="ellipse">
            <a:avLst/>
          </a:prstGeom>
          <a:solidFill>
            <a:srgbClr val="2F6F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1444752"/>
            <a:ext cx="62179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1" y="211226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Production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770632"/>
            <a:ext cx="148132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Replace SQLite with Cloud SQL PostgreSQL for durable multi-instance metadata.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81528" y="1600200"/>
            <a:ext cx="1874519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703320" y="1307592"/>
            <a:ext cx="621792" cy="621792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03320" y="1444752"/>
            <a:ext cx="62179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11226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Access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82696" y="2770632"/>
            <a:ext cx="148132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Add RBAC for admins, analysts, and read-only users.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294376" y="1600200"/>
            <a:ext cx="1874519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16168" y="1307592"/>
            <a:ext cx="621792" cy="621792"/>
          </a:xfrm>
          <a:prstGeom prst="ellipse">
            <a:avLst/>
          </a:prstGeom>
          <a:solidFill>
            <a:srgbClr val="26C6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1444752"/>
            <a:ext cx="62179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58968" y="211226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Advanced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95544" y="2770632"/>
            <a:ext cx="148132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Support multi-table joins, saved reports, and dashboards.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07223" y="1600200"/>
            <a:ext cx="1874519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29015" y="1307592"/>
            <a:ext cx="621792" cy="621792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29015" y="1444752"/>
            <a:ext cx="62179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5" y="211226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Approval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08392" y="2770632"/>
            <a:ext cx="148132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Require approval for high-cost or sensitive queries.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20072" y="1600200"/>
            <a:ext cx="1874519" cy="32735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41863" y="1307592"/>
            <a:ext cx="621792" cy="6217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41863" y="1444752"/>
            <a:ext cx="621792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84663" y="2112264"/>
            <a:ext cx="155448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400" b="1">
                <a:solidFill>
                  <a:srgbClr val="0C1E3B"/>
                </a:solidFill>
                <a:latin typeface="Aptos"/>
              </a:defRPr>
            </a:pPr>
            <a:r>
              <a:t>Operations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2770632"/>
            <a:ext cx="1481328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Aptos"/>
              </a:defRPr>
            </a:pPr>
            <a:r>
              <a:t>Add custom metrics, alerts, retention policies, and org workspaces.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17320" y="5532120"/>
            <a:ext cx="9372600" cy="4572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91640" y="5669280"/>
            <a:ext cx="8823960" cy="1097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 b="1">
                <a:solidFill>
                  <a:srgbClr val="0C1E3B"/>
                </a:solidFill>
                <a:latin typeface="Aptos"/>
              </a:defRPr>
            </a:pPr>
            <a:r>
              <a:t>Clear next step: production hardening, not more MVP feature expansion.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QueryShield AI - Governed Natural-Language-to-SQL Analytics Platform</dc:title>
  <dc:subject>Portfolio project presentation</dc:subject>
  <dc:creator>Manan Shah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